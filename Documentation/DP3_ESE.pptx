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7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5" r:id="rId18"/>
    <p:sldId id="276" r:id="rId19"/>
    <p:sldId id="271" r:id="rId20"/>
    <p:sldId id="272" r:id="rId21"/>
  </p:sldIdLst>
  <p:sldSz cx="12192000" cy="6858000"/>
  <p:notesSz cx="6858000" cy="9144000"/>
  <p:embeddedFontLst>
    <p:embeddedFont>
      <p:font typeface="Arial Narrow" pitchFamily="34" charset="0"/>
      <p:regular r:id="rId23"/>
      <p:bold r:id="rId24"/>
      <p:italic r:id="rId25"/>
      <p:boldItalic r:id="rId26"/>
    </p:embeddedFont>
    <p:embeddedFont>
      <p:font typeface="Calibri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-1104" y="-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ana G" userId="337a895d088291e2" providerId="LiveId" clId="{FB9E27F7-1196-3A64-A0DC-B29DA1CC07C5}"/>
    <pc:docChg chg="custSel modSld">
      <pc:chgData name="Rakshana G" userId="337a895d088291e2" providerId="LiveId" clId="{FB9E27F7-1196-3A64-A0DC-B29DA1CC07C5}" dt="2025-11-26T04:38:49.842" v="432" actId="20577"/>
      <pc:docMkLst>
        <pc:docMk/>
      </pc:docMkLst>
      <pc:sldChg chg="modSp mod">
        <pc:chgData name="Rakshana G" userId="337a895d088291e2" providerId="LiveId" clId="{FB9E27F7-1196-3A64-A0DC-B29DA1CC07C5}" dt="2025-11-26T04:24:14.054" v="45" actId="20577"/>
        <pc:sldMkLst>
          <pc:docMk/>
          <pc:sldMk cId="0" sldId="256"/>
        </pc:sldMkLst>
        <pc:spChg chg="mod">
          <ac:chgData name="Rakshana G" userId="337a895d088291e2" providerId="LiveId" clId="{FB9E27F7-1196-3A64-A0DC-B29DA1CC07C5}" dt="2025-11-26T04:24:14.054" v="45" actId="20577"/>
          <ac:spMkLst>
            <pc:docMk/>
            <pc:sldMk cId="0" sldId="256"/>
            <ac:spMk id="88" creationId="{00000000-0000-0000-0000-000000000000}"/>
          </ac:spMkLst>
        </pc:spChg>
      </pc:sldChg>
      <pc:sldChg chg="modSp mod">
        <pc:chgData name="Rakshana G" userId="337a895d088291e2" providerId="LiveId" clId="{FB9E27F7-1196-3A64-A0DC-B29DA1CC07C5}" dt="2025-11-26T04:33:53.083" v="422" actId="20577"/>
        <pc:sldMkLst>
          <pc:docMk/>
          <pc:sldMk cId="0" sldId="257"/>
        </pc:sldMkLst>
        <pc:spChg chg="mod">
          <ac:chgData name="Rakshana G" userId="337a895d088291e2" providerId="LiveId" clId="{FB9E27F7-1196-3A64-A0DC-B29DA1CC07C5}" dt="2025-11-26T04:30:12.970" v="225" actId="20577"/>
          <ac:spMkLst>
            <pc:docMk/>
            <pc:sldMk cId="0" sldId="257"/>
            <ac:spMk id="96" creationId="{00000000-0000-0000-0000-000000000000}"/>
          </ac:spMkLst>
        </pc:spChg>
        <pc:spChg chg="mod">
          <ac:chgData name="Rakshana G" userId="337a895d088291e2" providerId="LiveId" clId="{FB9E27F7-1196-3A64-A0DC-B29DA1CC07C5}" dt="2025-11-26T04:33:53.083" v="422" actId="20577"/>
          <ac:spMkLst>
            <pc:docMk/>
            <pc:sldMk cId="0" sldId="257"/>
            <ac:spMk id="98" creationId="{00000000-0000-0000-0000-000000000000}"/>
          </ac:spMkLst>
        </pc:spChg>
        <pc:spChg chg="mod">
          <ac:chgData name="Rakshana G" userId="337a895d088291e2" providerId="LiveId" clId="{FB9E27F7-1196-3A64-A0DC-B29DA1CC07C5}" dt="2025-11-26T04:33:03.338" v="379" actId="27636"/>
          <ac:spMkLst>
            <pc:docMk/>
            <pc:sldMk cId="0" sldId="257"/>
            <ac:spMk id="99" creationId="{00000000-0000-0000-0000-000000000000}"/>
          </ac:spMkLst>
        </pc:spChg>
      </pc:sldChg>
      <pc:sldChg chg="addSp modSp mod">
        <pc:chgData name="Rakshana G" userId="337a895d088291e2" providerId="LiveId" clId="{FB9E27F7-1196-3A64-A0DC-B29DA1CC07C5}" dt="2025-11-26T04:26:05.412" v="50" actId="1076"/>
        <pc:sldMkLst>
          <pc:docMk/>
          <pc:sldMk cId="0" sldId="261"/>
        </pc:sldMkLst>
        <pc:picChg chg="add mod">
          <ac:chgData name="Rakshana G" userId="337a895d088291e2" providerId="LiveId" clId="{FB9E27F7-1196-3A64-A0DC-B29DA1CC07C5}" dt="2025-11-26T04:26:05.412" v="50" actId="1076"/>
          <ac:picMkLst>
            <pc:docMk/>
            <pc:sldMk cId="0" sldId="261"/>
            <ac:picMk id="2" creationId="{9CCC5972-34D9-AB27-DC23-4BC3ADA9FF0B}"/>
          </ac:picMkLst>
        </pc:picChg>
      </pc:sldChg>
      <pc:sldChg chg="addSp delSp modSp mod">
        <pc:chgData name="Rakshana G" userId="337a895d088291e2" providerId="LiveId" clId="{FB9E27F7-1196-3A64-A0DC-B29DA1CC07C5}" dt="2025-11-26T04:38:49.842" v="432" actId="20577"/>
        <pc:sldMkLst>
          <pc:docMk/>
          <pc:sldMk cId="0" sldId="264"/>
        </pc:sldMkLst>
        <pc:spChg chg="mod">
          <ac:chgData name="Rakshana G" userId="337a895d088291e2" providerId="LiveId" clId="{FB9E27F7-1196-3A64-A0DC-B29DA1CC07C5}" dt="2025-11-26T04:38:49.842" v="432" actId="20577"/>
          <ac:spMkLst>
            <pc:docMk/>
            <pc:sldMk cId="0" sldId="264"/>
            <ac:spMk id="147" creationId="{00000000-0000-0000-0000-000000000000}"/>
          </ac:spMkLst>
        </pc:spChg>
        <pc:picChg chg="add del">
          <ac:chgData name="Rakshana G" userId="337a895d088291e2" providerId="LiveId" clId="{FB9E27F7-1196-3A64-A0DC-B29DA1CC07C5}" dt="2025-11-26T04:29:22.498" v="171" actId="478"/>
          <ac:picMkLst>
            <pc:docMk/>
            <pc:sldMk cId="0" sldId="264"/>
            <ac:picMk id="3" creationId="{AC0BA701-642A-D9F4-3B89-F907E5BB5970}"/>
          </ac:picMkLst>
        </pc:picChg>
      </pc:sldChg>
      <pc:sldChg chg="delSp mod">
        <pc:chgData name="Rakshana G" userId="337a895d088291e2" providerId="LiveId" clId="{FB9E27F7-1196-3A64-A0DC-B29DA1CC07C5}" dt="2025-11-26T04:27:39.445" v="51" actId="21"/>
        <pc:sldMkLst>
          <pc:docMk/>
          <pc:sldMk cId="0" sldId="265"/>
        </pc:sldMkLst>
        <pc:picChg chg="del">
          <ac:chgData name="Rakshana G" userId="337a895d088291e2" providerId="LiveId" clId="{FB9E27F7-1196-3A64-A0DC-B29DA1CC07C5}" dt="2025-11-26T04:27:39.445" v="51" actId="21"/>
          <ac:picMkLst>
            <pc:docMk/>
            <pc:sldMk cId="0" sldId="265"/>
            <ac:picMk id="5" creationId="{7EE2EE14-F151-5430-9510-F2A814607AFD}"/>
          </ac:picMkLst>
        </pc:picChg>
      </pc:sldChg>
      <pc:sldChg chg="modSp mod">
        <pc:chgData name="Rakshana G" userId="337a895d088291e2" providerId="LiveId" clId="{FB9E27F7-1196-3A64-A0DC-B29DA1CC07C5}" dt="2025-11-26T04:38:25.270" v="431" actId="20577"/>
        <pc:sldMkLst>
          <pc:docMk/>
          <pc:sldMk cId="0" sldId="271"/>
        </pc:sldMkLst>
        <pc:spChg chg="mod">
          <ac:chgData name="Rakshana G" userId="337a895d088291e2" providerId="LiveId" clId="{FB9E27F7-1196-3A64-A0DC-B29DA1CC07C5}" dt="2025-11-26T04:38:25.270" v="431" actId="20577"/>
          <ac:spMkLst>
            <pc:docMk/>
            <pc:sldMk cId="0" sldId="271"/>
            <ac:spMk id="19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=""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=""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=""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=""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=""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=""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261257" y="2159687"/>
            <a:ext cx="11636830" cy="437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lvl="0" indent="0" algn="ctr">
              <a:buSzPts val="3600"/>
              <a:buNone/>
            </a:pPr>
            <a:endParaRPr lang="en-US"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/>
              <a:t>END SEMESTER PRACTICAL EXAMINATION- NOV / DEC 2025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</a:t>
            </a: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  07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</a:t>
            </a: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         </a:t>
            </a: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:</a:t>
            </a: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  28-11-2025</a:t>
            </a:r>
            <a:endParaRPr lang="en-US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</a:t>
            </a: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   </a:t>
            </a: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:</a:t>
            </a: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  FN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72900" y="506437"/>
            <a:ext cx="12119100" cy="144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indent="0" algn="ctr">
              <a:buSzPts val="3600"/>
              <a:buNone/>
            </a:pPr>
            <a:r>
              <a:rPr lang="en-GB" sz="4200" b="1" dirty="0" smtClean="0">
                <a:latin typeface="Arial Narrow"/>
                <a:ea typeface="Arial Narrow"/>
                <a:cs typeface="Arial Narrow"/>
                <a:sym typeface="Arial Narrow"/>
              </a:rPr>
              <a:t>AI-Driven Financial Document Analysis: A Privacy-Preserving Multi-Agent Framework Using Local Large Language Models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 sz="3600" b="1" dirty="0" smtClean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2979560"/>
            <a:ext cx="539644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  <a:endParaRPr lang="en-IN" sz="2400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IN" sz="2400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Ms. S. SHAHINA SHALU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Assistant Professor (CSE)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229178" y="2701284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  <a:endParaRPr lang="en-IN" sz="2400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IN" sz="2400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LOGESHWARAN P (811722104082)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RAKSHANA G         (811722104119)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RIYAZ AHMED H     (811722104124)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SURIYA ANAND R  (811722104308)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561514"/>
            <a:ext cx="10515600" cy="475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buNone/>
            </a:pPr>
            <a:r>
              <a:rPr lang="en-GB" b="1" dirty="0" smtClean="0">
                <a:latin typeface="Arial Narrow" pitchFamily="34" charset="0"/>
              </a:rPr>
              <a:t>1. </a:t>
            </a:r>
            <a:r>
              <a:rPr lang="en-GB" dirty="0" smtClean="0"/>
              <a:t>Automate financial document processing by extracting, categorizing, and analyzing data from invoices, statements, contracts, and reports.</a:t>
            </a:r>
          </a:p>
          <a:p>
            <a:pPr algn="just">
              <a:buNone/>
            </a:pPr>
            <a:r>
              <a:rPr lang="en-GB" b="1" dirty="0" smtClean="0"/>
              <a:t>2. </a:t>
            </a:r>
            <a:r>
              <a:rPr lang="en-GB" dirty="0" smtClean="0"/>
              <a:t>Ensure </a:t>
            </a:r>
            <a:r>
              <a:rPr lang="en-GB" dirty="0" smtClean="0"/>
              <a:t>privacy-preserving analysis by using locally deployed LLMs within a secure environment.</a:t>
            </a:r>
          </a:p>
          <a:p>
            <a:pPr algn="just">
              <a:buNone/>
            </a:pPr>
            <a:r>
              <a:rPr lang="en-GB" b="1" dirty="0" smtClean="0"/>
              <a:t>3. </a:t>
            </a:r>
            <a:r>
              <a:rPr lang="en-GB" dirty="0" smtClean="0"/>
              <a:t>Enable </a:t>
            </a:r>
            <a:r>
              <a:rPr lang="en-GB" dirty="0" smtClean="0"/>
              <a:t>multi-agent collaboration through specialized agents for tasks such as data extraction, compliance checking, and anomaly detection.</a:t>
            </a:r>
          </a:p>
          <a:p>
            <a:pPr algn="just">
              <a:buNone/>
            </a:pPr>
            <a:r>
              <a:rPr lang="en-GB" b="1" dirty="0" smtClean="0"/>
              <a:t>4. </a:t>
            </a:r>
            <a:r>
              <a:rPr lang="en-GB" dirty="0" smtClean="0"/>
              <a:t>Improve </a:t>
            </a:r>
            <a:r>
              <a:rPr lang="en-GB" dirty="0" smtClean="0"/>
              <a:t>accuracy and interpretability with context-aware analysis that supports auditors, analysts, and regulators.</a:t>
            </a:r>
          </a:p>
          <a:p>
            <a:pPr marL="628650" indent="-514350" algn="just">
              <a:buNone/>
            </a:pPr>
            <a:endParaRPr lang="en-US" dirty="0" smtClean="0"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067932"/>
            <a:ext cx="10515600" cy="488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28650" indent="-514350" algn="just">
              <a:buNone/>
            </a:pPr>
            <a:r>
              <a:rPr lang="en-GB" b="1" dirty="0" smtClean="0">
                <a:latin typeface="Arial Narrow" pitchFamily="34" charset="0"/>
              </a:rPr>
              <a:t>1. 	</a:t>
            </a:r>
            <a:r>
              <a:rPr lang="en-GB" dirty="0" smtClean="0">
                <a:latin typeface="Arial Narrow" pitchFamily="34" charset="0"/>
              </a:rPr>
              <a:t>The </a:t>
            </a:r>
            <a:r>
              <a:rPr lang="en-GB" dirty="0" smtClean="0">
                <a:latin typeface="Arial Narrow" pitchFamily="34" charset="0"/>
              </a:rPr>
              <a:t>financial sector produces massive volumes of complex documents such as invoices, statements, contracts, and compliance reports</a:t>
            </a:r>
            <a:r>
              <a:rPr lang="en-GB" dirty="0" smtClean="0">
                <a:latin typeface="Arial Narrow" pitchFamily="34" charset="0"/>
              </a:rPr>
              <a:t>.</a:t>
            </a:r>
          </a:p>
          <a:p>
            <a:pPr marL="628650" indent="-514350" algn="just">
              <a:buFont typeface="+mj-lt"/>
              <a:buAutoNum type="arabicPeriod"/>
            </a:pPr>
            <a:endParaRPr lang="en-GB" dirty="0" smtClean="0">
              <a:latin typeface="Arial Narrow" pitchFamily="34" charset="0"/>
            </a:endParaRPr>
          </a:p>
          <a:p>
            <a:pPr marL="628650" indent="-514350" algn="just">
              <a:buNone/>
            </a:pPr>
            <a:r>
              <a:rPr lang="en-GB" b="1" dirty="0" smtClean="0">
                <a:latin typeface="Arial Narrow" pitchFamily="34" charset="0"/>
              </a:rPr>
              <a:t>2.	</a:t>
            </a:r>
            <a:r>
              <a:rPr lang="en-GB" dirty="0" smtClean="0">
                <a:latin typeface="Arial Narrow" pitchFamily="34" charset="0"/>
              </a:rPr>
              <a:t>Manual </a:t>
            </a:r>
            <a:r>
              <a:rPr lang="en-GB" dirty="0" smtClean="0">
                <a:latin typeface="Arial Narrow" pitchFamily="34" charset="0"/>
              </a:rPr>
              <a:t>processing is slow, error-prone, and increases risks of non-compliance, fraud, and incorrect decision-making</a:t>
            </a:r>
            <a:r>
              <a:rPr lang="en-GB" dirty="0" smtClean="0">
                <a:latin typeface="Arial Narrow" pitchFamily="34" charset="0"/>
              </a:rPr>
              <a:t>.</a:t>
            </a:r>
          </a:p>
          <a:p>
            <a:pPr marL="628650" indent="-514350" algn="just">
              <a:buFont typeface="+mj-lt"/>
              <a:buAutoNum type="arabicPeriod"/>
            </a:pPr>
            <a:endParaRPr lang="en-GB" dirty="0" smtClean="0">
              <a:latin typeface="Arial Narrow" pitchFamily="34" charset="0"/>
            </a:endParaRPr>
          </a:p>
          <a:p>
            <a:pPr marL="628650" indent="-514350" algn="just">
              <a:buNone/>
            </a:pPr>
            <a:r>
              <a:rPr lang="en-GB" b="1" dirty="0" smtClean="0">
                <a:latin typeface="Arial Narrow" pitchFamily="34" charset="0"/>
              </a:rPr>
              <a:t>3.	</a:t>
            </a:r>
            <a:r>
              <a:rPr lang="en-GB" dirty="0" smtClean="0">
                <a:latin typeface="Arial Narrow" pitchFamily="34" charset="0"/>
              </a:rPr>
              <a:t>Cloud-based </a:t>
            </a:r>
            <a:r>
              <a:rPr lang="en-GB" dirty="0" smtClean="0">
                <a:latin typeface="Arial Narrow" pitchFamily="34" charset="0"/>
              </a:rPr>
              <a:t>LLMs offer automation but pose privacy and security issues for sensitive financial data</a:t>
            </a:r>
            <a:r>
              <a:rPr lang="en-GB" dirty="0" smtClean="0">
                <a:latin typeface="Arial Narrow" pitchFamily="34" charset="0"/>
              </a:rPr>
              <a:t>.</a:t>
            </a:r>
          </a:p>
          <a:p>
            <a:pPr marL="628650" indent="-514350" algn="just">
              <a:buFont typeface="+mj-lt"/>
              <a:buAutoNum type="arabicPeriod"/>
            </a:pPr>
            <a:endParaRPr lang="en-GB" dirty="0" smtClean="0">
              <a:latin typeface="Arial Narrow" pitchFamily="34" charset="0"/>
            </a:endParaRPr>
          </a:p>
          <a:p>
            <a:pPr marL="628650" indent="-514350" algn="just">
              <a:buNone/>
            </a:pPr>
            <a:r>
              <a:rPr lang="en-GB" b="1" dirty="0" smtClean="0">
                <a:latin typeface="Arial Narrow" pitchFamily="34" charset="0"/>
              </a:rPr>
              <a:t>4.	</a:t>
            </a:r>
            <a:r>
              <a:rPr lang="en-GB" dirty="0" smtClean="0">
                <a:latin typeface="Arial Narrow" pitchFamily="34" charset="0"/>
              </a:rPr>
              <a:t>Using </a:t>
            </a:r>
            <a:r>
              <a:rPr lang="en-GB" dirty="0" smtClean="0">
                <a:latin typeface="Arial Narrow" pitchFamily="34" charset="0"/>
              </a:rPr>
              <a:t>locally deployed LLMs with a multi-agent framework ensures secure, intelligent, and compliant financial document analysis.</a:t>
            </a:r>
          </a:p>
          <a:p>
            <a:pPr marL="51435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endParaRPr lang="en-US" dirty="0" smtClean="0">
              <a:latin typeface="Arial Narrow" pitchFamily="34" charset="0"/>
            </a:endParaRPr>
          </a:p>
          <a:p>
            <a:pPr marL="514350" lvl="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endParaRPr lang="en-US" dirty="0" smtClean="0">
              <a:latin typeface="Arial Narrow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="" xmlns:p14="http://schemas.microsoft.com/office/powerpoint/2010/main" val="1131063104"/>
              </p:ext>
            </p:extLst>
          </p:nvPr>
        </p:nvGraphicFramePr>
        <p:xfrm>
          <a:off x="0" y="717453"/>
          <a:ext cx="12192001" cy="6143660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7009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3371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3251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2477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40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045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dirty="0" smtClean="0">
                          <a:latin typeface="Arial Narrow" pitchFamily="34" charset="0"/>
                        </a:rPr>
                        <a:t>Privacy-Preserving Large Language Models: Mechanisms, Applications, and Future Directions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900" dirty="0" smtClean="0">
                        <a:latin typeface="Arial Narrow" pitchFamily="3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 smtClean="0">
                          <a:latin typeface="Arial Narrow" pitchFamily="34" charset="0"/>
                        </a:rPr>
                        <a:t>Eric Song &amp; </a:t>
                      </a:r>
                      <a:r>
                        <a:rPr lang="en-US" sz="1900" dirty="0" err="1" smtClean="0">
                          <a:latin typeface="Arial Narrow" pitchFamily="34" charset="0"/>
                        </a:rPr>
                        <a:t>Guoshenghu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 Zhao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900" dirty="0" smtClean="0">
                          <a:latin typeface="Arial Narrow" pitchFamily="34" charset="0"/>
                        </a:rPr>
                        <a:t>Survey of privacy risks in LLMs and techniques like DP, FL, cryptography, and TEEs for secure deployment.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sz="1900" b="0" dirty="0" smtClean="0">
                          <a:latin typeface="Arial Narrow" pitchFamily="34" charset="0"/>
                        </a:rPr>
                        <a:t>Differential Privacy (DP),</a:t>
                      </a:r>
                      <a:r>
                        <a:rPr lang="en-US" sz="1900" b="0" baseline="0" dirty="0" smtClean="0">
                          <a:latin typeface="Arial Narrow" pitchFamily="34" charset="0"/>
                        </a:rPr>
                        <a:t> </a:t>
                      </a:r>
                      <a:endParaRPr lang="en-US" sz="1900" b="0" dirty="0" smtClean="0">
                        <a:latin typeface="Arial Narrow" pitchFamily="34" charset="0"/>
                      </a:endParaRPr>
                    </a:p>
                    <a:p>
                      <a:r>
                        <a:rPr lang="en-US" sz="1900" b="0" dirty="0" smtClean="0">
                          <a:latin typeface="Arial Narrow" pitchFamily="34" charset="0"/>
                        </a:rPr>
                        <a:t>Federated Learning (FL),</a:t>
                      </a:r>
                    </a:p>
                    <a:p>
                      <a:r>
                        <a:rPr lang="en-US" sz="1900" b="0" dirty="0" err="1" smtClean="0">
                          <a:latin typeface="Arial Narrow" pitchFamily="34" charset="0"/>
                        </a:rPr>
                        <a:t>Homomorphic</a:t>
                      </a:r>
                      <a:r>
                        <a:rPr lang="en-US" sz="1900" b="0" baseline="0" dirty="0" smtClean="0">
                          <a:latin typeface="Arial Narrow" pitchFamily="34" charset="0"/>
                        </a:rPr>
                        <a:t> </a:t>
                      </a:r>
                      <a:r>
                        <a:rPr lang="en-US" sz="1900" b="0" dirty="0" smtClean="0">
                          <a:latin typeface="Arial Narrow" pitchFamily="34" charset="0"/>
                        </a:rPr>
                        <a:t>Encryption,</a:t>
                      </a:r>
                    </a:p>
                    <a:p>
                      <a:r>
                        <a:rPr lang="en-US" sz="1900" b="0" dirty="0" smtClean="0">
                          <a:latin typeface="Arial Narrow" pitchFamily="34" charset="0"/>
                        </a:rPr>
                        <a:t>Trusted Execution Environments (TEE)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189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dirty="0" smtClean="0">
                          <a:latin typeface="Arial Narrow" pitchFamily="34" charset="0"/>
                        </a:rPr>
                        <a:t>Multi-Agent Collaboration in AI: Enhancing Software Development with Autonomous LLMs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900" dirty="0" smtClean="0">
                        <a:latin typeface="Arial Narrow" pitchFamily="3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 smtClean="0">
                          <a:latin typeface="Arial Narrow" pitchFamily="34" charset="0"/>
                        </a:rPr>
                        <a:t>David </a:t>
                      </a:r>
                      <a:r>
                        <a:rPr lang="en-US" sz="1900" dirty="0" err="1" smtClean="0">
                          <a:latin typeface="Arial Narrow" pitchFamily="34" charset="0"/>
                        </a:rPr>
                        <a:t>Tunkel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 &amp;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 err="1" smtClean="0">
                          <a:latin typeface="Arial Narrow" pitchFamily="34" charset="0"/>
                        </a:rPr>
                        <a:t>Mubeen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 </a:t>
                      </a:r>
                      <a:r>
                        <a:rPr lang="en-US" sz="1900" dirty="0" err="1" smtClean="0">
                          <a:latin typeface="Arial Narrow" pitchFamily="34" charset="0"/>
                        </a:rPr>
                        <a:t>Wasif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dirty="0" smtClean="0">
                          <a:latin typeface="Arial Narrow" pitchFamily="34" charset="0"/>
                        </a:rPr>
                        <a:t>Explores how autonomous LLM agents collaborate to divide tasks, cross-verify outputs, and improve workflow reliability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900" dirty="0" smtClean="0">
                        <a:latin typeface="Arial Narrow" pitchFamily="3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 smtClean="0">
                          <a:latin typeface="Arial Narrow" pitchFamily="34" charset="0"/>
                        </a:rPr>
                        <a:t>Multi-agent systems, LLMs, autonomous agents, message-passing coordination.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4439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dirty="0" smtClean="0">
                          <a:latin typeface="Arial Narrow" pitchFamily="34" charset="0"/>
                        </a:rPr>
                        <a:t>A Survey of Large Language Models for Financial Applications: Progress, Prospects and Challenges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900" dirty="0" smtClean="0">
                        <a:latin typeface="Arial Narrow" pitchFamily="3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 err="1" smtClean="0">
                          <a:latin typeface="Arial Narrow" pitchFamily="34" charset="0"/>
                        </a:rPr>
                        <a:t>Yuqi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 </a:t>
                      </a:r>
                      <a:r>
                        <a:rPr lang="en-US" sz="1900" dirty="0" err="1" smtClean="0">
                          <a:latin typeface="Arial Narrow" pitchFamily="34" charset="0"/>
                        </a:rPr>
                        <a:t>Nie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, Vincent Poor, et al. </a:t>
                      </a:r>
                      <a:endParaRPr sz="1900" u="none" strike="noStrike" cap="none" dirty="0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dirty="0" smtClean="0">
                          <a:latin typeface="Arial Narrow" pitchFamily="34" charset="0"/>
                        </a:rPr>
                        <a:t>Reviews how LLMs are applied in finance including NLP, sentiment analysis, reasoning, and time-series modelling.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900" dirty="0" smtClean="0">
                          <a:latin typeface="Arial Narrow" pitchFamily="34" charset="0"/>
                        </a:rPr>
                        <a:t>Transformer-based LLMs, financial NLP, sentiment models, agent-based </a:t>
                      </a:r>
                      <a:r>
                        <a:rPr lang="en-US" sz="1900" dirty="0" err="1" smtClean="0">
                          <a:latin typeface="Arial Narrow" pitchFamily="34" charset="0"/>
                        </a:rPr>
                        <a:t>modelling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.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189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dirty="0" smtClean="0">
                          <a:latin typeface="Arial Narrow" pitchFamily="34" charset="0"/>
                        </a:rPr>
                        <a:t>Beyond Pure Text: Summarizing Financial Reports Based on Both Textual and Tabular Data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900" dirty="0" smtClean="0">
                        <a:latin typeface="Arial Narrow" pitchFamily="34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 smtClean="0">
                          <a:latin typeface="Arial Narrow" pitchFamily="34" charset="0"/>
                        </a:rPr>
                        <a:t>Wang et al.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 dirty="0" smtClean="0">
                          <a:latin typeface="Arial Narrow" pitchFamily="34" charset="0"/>
                        </a:rPr>
                        <a:t>Proposes a joint model that combines text and table data for more accurate financial report summarization.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 smtClean="0">
                          <a:latin typeface="Arial Narrow" pitchFamily="34" charset="0"/>
                        </a:rPr>
                        <a:t>Hierarchical encoders, text–table fusion models, multimodal summarization.</a:t>
                      </a:r>
                      <a:endParaRPr sz="1900" u="none" strike="noStrike" cap="none">
                        <a:solidFill>
                          <a:schemeClr val="dk1"/>
                        </a:solidFill>
                        <a:latin typeface="Arial Narrow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299547"/>
          <a:ext cx="12192004" cy="5855837"/>
        </p:xfrm>
        <a:graphic>
          <a:graphicData uri="http://schemas.openxmlformats.org/drawingml/2006/table">
            <a:tbl>
              <a:tblPr firstRow="1" bandRow="1">
                <a:tableStyleId>{3CDD818E-ADFA-4579-856F-A3140DA02BD1}</a:tableStyleId>
              </a:tblPr>
              <a:tblGrid>
                <a:gridCol w="3048001"/>
                <a:gridCol w="3048001"/>
                <a:gridCol w="3048001"/>
                <a:gridCol w="3048001"/>
              </a:tblGrid>
              <a:tr h="567557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>
                          <a:solidFill>
                            <a:schemeClr val="tx1"/>
                          </a:solidFill>
                          <a:latin typeface="Arial Narrow" pitchFamily="34" charset="0"/>
                        </a:rPr>
                        <a:t>TITLE</a:t>
                      </a:r>
                      <a:r>
                        <a:rPr lang="en-GB" sz="2400" baseline="0" dirty="0" smtClean="0">
                          <a:solidFill>
                            <a:schemeClr val="tx1"/>
                          </a:solidFill>
                          <a:latin typeface="Arial Narrow" pitchFamily="34" charset="0"/>
                        </a:rPr>
                        <a:t> OF PAPER</a:t>
                      </a:r>
                      <a:endParaRPr lang="en-US" sz="2400" dirty="0">
                        <a:solidFill>
                          <a:schemeClr val="tx1"/>
                        </a:solidFill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>
                          <a:solidFill>
                            <a:schemeClr val="tx1"/>
                          </a:solidFill>
                          <a:latin typeface="Arial Narrow" pitchFamily="34" charset="0"/>
                        </a:rPr>
                        <a:t>AUTHOR(S)</a:t>
                      </a:r>
                      <a:endParaRPr lang="en-US" dirty="0">
                        <a:solidFill>
                          <a:schemeClr val="tx1"/>
                        </a:solidFill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>
                          <a:solidFill>
                            <a:schemeClr val="tx1"/>
                          </a:solidFill>
                          <a:latin typeface="Arial Narrow" pitchFamily="34" charset="0"/>
                        </a:rPr>
                        <a:t>PAPER GIST</a:t>
                      </a:r>
                      <a:endParaRPr lang="en-US" sz="2400" dirty="0">
                        <a:solidFill>
                          <a:schemeClr val="tx1"/>
                        </a:solidFill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>
                          <a:solidFill>
                            <a:schemeClr val="tx1"/>
                          </a:solidFill>
                          <a:latin typeface="Arial Narrow" pitchFamily="34" charset="0"/>
                        </a:rPr>
                        <a:t>TECHNOLOGY USED</a:t>
                      </a:r>
                      <a:endParaRPr lang="en-US" sz="2400" dirty="0">
                        <a:solidFill>
                          <a:schemeClr val="tx1"/>
                        </a:solidFill>
                        <a:latin typeface="Arial Narrow" pitchFamily="34" charset="0"/>
                      </a:endParaRPr>
                    </a:p>
                  </a:txBody>
                  <a:tcPr/>
                </a:tc>
              </a:tr>
              <a:tr h="1206223">
                <a:tc>
                  <a:txBody>
                    <a:bodyPr/>
                    <a:lstStyle/>
                    <a:p>
                      <a:r>
                        <a:rPr lang="en-GB" sz="1900" dirty="0" smtClean="0">
                          <a:latin typeface="Arial Narrow" pitchFamily="34" charset="0"/>
                        </a:rPr>
                        <a:t>GPT-</a:t>
                      </a:r>
                      <a:r>
                        <a:rPr lang="en-GB" sz="1900" dirty="0" err="1" smtClean="0">
                          <a:latin typeface="Arial Narrow" pitchFamily="34" charset="0"/>
                        </a:rPr>
                        <a:t>FinRE</a:t>
                      </a:r>
                      <a:r>
                        <a:rPr lang="en-GB" sz="1900" dirty="0" smtClean="0">
                          <a:latin typeface="Arial Narrow" pitchFamily="34" charset="0"/>
                        </a:rPr>
                        <a:t>: In-Context Learning for Financial Relation Extraction Using Large Language Models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err="1" smtClean="0">
                          <a:latin typeface="Arial Narrow" pitchFamily="34" charset="0"/>
                        </a:rPr>
                        <a:t>Rajpoot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 &amp; Parikh 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900" dirty="0" smtClean="0">
                          <a:latin typeface="Arial Narrow" pitchFamily="34" charset="0"/>
                        </a:rPr>
                        <a:t>Uses in-context learning with LLMs to extract financial relationships with fewer </a:t>
                      </a:r>
                      <a:r>
                        <a:rPr lang="en-GB" sz="1900" dirty="0" err="1" smtClean="0">
                          <a:latin typeface="Arial Narrow" pitchFamily="34" charset="0"/>
                        </a:rPr>
                        <a:t>labeled</a:t>
                      </a:r>
                      <a:r>
                        <a:rPr lang="en-GB" sz="1900" dirty="0" smtClean="0">
                          <a:latin typeface="Arial Narrow" pitchFamily="34" charset="0"/>
                        </a:rPr>
                        <a:t> examples.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Arial Narrow" pitchFamily="34" charset="0"/>
                        </a:rPr>
                        <a:t>GPT models, In-Context Learning (ICL), retrieval augmentation, financial </a:t>
                      </a:r>
                      <a:r>
                        <a:rPr lang="en-US" sz="1900" dirty="0" err="1" smtClean="0">
                          <a:latin typeface="Arial Narrow" pitchFamily="34" charset="0"/>
                        </a:rPr>
                        <a:t>REFinD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 dataset.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</a:tr>
              <a:tr h="1206223">
                <a:tc>
                  <a:txBody>
                    <a:bodyPr/>
                    <a:lstStyle/>
                    <a:p>
                      <a:r>
                        <a:rPr lang="en-GB" sz="1900" dirty="0" smtClean="0">
                          <a:latin typeface="Arial Narrow" pitchFamily="34" charset="0"/>
                        </a:rPr>
                        <a:t>Exploring the Effectiveness of </a:t>
                      </a:r>
                      <a:r>
                        <a:rPr lang="en-GB" sz="1900" dirty="0" err="1" smtClean="0">
                          <a:latin typeface="Arial Narrow" pitchFamily="34" charset="0"/>
                        </a:rPr>
                        <a:t>Pretrained</a:t>
                      </a:r>
                      <a:r>
                        <a:rPr lang="en-GB" sz="1900" dirty="0" smtClean="0">
                          <a:latin typeface="Arial Narrow" pitchFamily="34" charset="0"/>
                        </a:rPr>
                        <a:t> Language Models for Financial Data Extraction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err="1" smtClean="0">
                          <a:latin typeface="Arial Narrow" pitchFamily="34" charset="0"/>
                        </a:rPr>
                        <a:t>Urvashi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 </a:t>
                      </a:r>
                      <a:r>
                        <a:rPr lang="en-US" sz="1900" dirty="0" err="1" smtClean="0">
                          <a:latin typeface="Arial Narrow" pitchFamily="34" charset="0"/>
                        </a:rPr>
                        <a:t>Khanna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 &amp; </a:t>
                      </a:r>
                      <a:r>
                        <a:rPr lang="en-US" sz="1900" dirty="0" err="1" smtClean="0">
                          <a:latin typeface="Arial Narrow" pitchFamily="34" charset="0"/>
                        </a:rPr>
                        <a:t>Amin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 </a:t>
                      </a:r>
                      <a:r>
                        <a:rPr lang="en-US" sz="1900" dirty="0" err="1" smtClean="0">
                          <a:latin typeface="Arial Narrow" pitchFamily="34" charset="0"/>
                        </a:rPr>
                        <a:t>Beheshti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 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900" dirty="0" smtClean="0">
                          <a:latin typeface="Arial Narrow" pitchFamily="34" charset="0"/>
                        </a:rPr>
                        <a:t>Evaluates transformer models for financial entity extraction, showing improved accuracy after fine-tuning.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Arial Narrow" pitchFamily="34" charset="0"/>
                        </a:rPr>
                        <a:t>Transformer NLP models, NER, domain-specific fine-tuning, contextual embeddings.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</a:tr>
              <a:tr h="1206223">
                <a:tc>
                  <a:txBody>
                    <a:bodyPr/>
                    <a:lstStyle/>
                    <a:p>
                      <a:r>
                        <a:rPr lang="en-GB" sz="1900" dirty="0" smtClean="0">
                          <a:latin typeface="Arial Narrow" pitchFamily="34" charset="0"/>
                        </a:rPr>
                        <a:t>Hierarchical Model for Goal-Guided Summarization of Annual Financial Reports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err="1" smtClean="0">
                          <a:latin typeface="Arial Narrow" pitchFamily="34" charset="0"/>
                        </a:rPr>
                        <a:t>Agarwal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, et al.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900" dirty="0" smtClean="0">
                          <a:latin typeface="Arial Narrow" pitchFamily="34" charset="0"/>
                        </a:rPr>
                        <a:t>Proposes a hierarchical summarization model that generates goal-specific summaries for financial reports.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900" dirty="0" smtClean="0">
                          <a:latin typeface="Arial Narrow" pitchFamily="34" charset="0"/>
                        </a:rPr>
                        <a:t>Hierarchical encoders, goal-conditioned decoders, attention mechanisms, abstractive summarization models.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</a:tr>
              <a:tr h="1206223">
                <a:tc>
                  <a:txBody>
                    <a:bodyPr/>
                    <a:lstStyle/>
                    <a:p>
                      <a:r>
                        <a:rPr lang="en-GB" sz="1900" dirty="0" smtClean="0">
                          <a:latin typeface="Arial Narrow" pitchFamily="34" charset="0"/>
                        </a:rPr>
                        <a:t>Financial Document Information Extraction Using Deep Learning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latin typeface="Arial Narrow" pitchFamily="34" charset="0"/>
                        </a:rPr>
                        <a:t>Zhang et al.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900" dirty="0" smtClean="0">
                          <a:latin typeface="Arial Narrow" pitchFamily="34" charset="0"/>
                        </a:rPr>
                        <a:t>Introduces a deep learning framework using NER models to extract key entities from complex financial documents.</a:t>
                      </a:r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900" dirty="0" err="1" smtClean="0">
                          <a:latin typeface="Arial Narrow" pitchFamily="34" charset="0"/>
                        </a:rPr>
                        <a:t>BiLSTM</a:t>
                      </a:r>
                      <a:r>
                        <a:rPr lang="en-US" sz="1900" dirty="0" smtClean="0">
                          <a:latin typeface="Arial Narrow" pitchFamily="34" charset="0"/>
                        </a:rPr>
                        <a:t>-CRF, transformer encoders, NLP-based NER, deep learning for document extraction.</a:t>
                      </a:r>
                    </a:p>
                    <a:p>
                      <a:endParaRPr lang="en-US" sz="1900" dirty="0">
                        <a:latin typeface="Arial Narrow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CCC5972-34D9-AB27-DC23-4BC3ADA9F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770" y="937683"/>
            <a:ext cx="5794459" cy="54186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=""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=""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=""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689318" y="735214"/>
            <a:ext cx="10923060" cy="7612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endParaRPr lang="en-GB" sz="2600" b="1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 smtClean="0">
                <a:latin typeface="Arial Narrow" pitchFamily="34" charset="0"/>
              </a:rPr>
              <a:t>Highly </a:t>
            </a:r>
            <a:r>
              <a:rPr lang="en-GB" sz="2800" dirty="0" smtClean="0">
                <a:latin typeface="Arial Narrow" pitchFamily="34" charset="0"/>
              </a:rPr>
              <a:t>inconsistent document formats make rule-based systems  </a:t>
            </a:r>
            <a:r>
              <a:rPr lang="en-GB" sz="2800" dirty="0" smtClean="0">
                <a:latin typeface="Arial Narrow" pitchFamily="34" charset="0"/>
              </a:rPr>
              <a:t>    inaccurate </a:t>
            </a:r>
            <a:r>
              <a:rPr lang="en-GB" sz="2800" dirty="0" smtClean="0">
                <a:latin typeface="Arial Narrow" pitchFamily="34" charset="0"/>
              </a:rPr>
              <a:t>across diverse financial </a:t>
            </a:r>
            <a:r>
              <a:rPr lang="en-GB" sz="2800" dirty="0" smtClean="0">
                <a:latin typeface="Arial Narrow" pitchFamily="34" charset="0"/>
              </a:rPr>
              <a:t>layouts.</a:t>
            </a:r>
          </a:p>
          <a:p>
            <a:pPr marL="514350" indent="-514350" algn="just">
              <a:buFont typeface="+mj-lt"/>
              <a:buAutoNum type="arabicPeriod"/>
            </a:pPr>
            <a:endParaRPr lang="en-GB" sz="1800" dirty="0" smtClean="0">
              <a:latin typeface="Arial Narrow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 smtClean="0">
                <a:latin typeface="Arial Narrow" pitchFamily="34" charset="0"/>
              </a:rPr>
              <a:t>Manual </a:t>
            </a:r>
            <a:r>
              <a:rPr lang="en-GB" sz="2800" dirty="0" smtClean="0">
                <a:latin typeface="Arial Narrow" pitchFamily="34" charset="0"/>
              </a:rPr>
              <a:t>processing leads to frequent errors such as misreading amounts or missing handwritten </a:t>
            </a:r>
            <a:r>
              <a:rPr lang="en-GB" sz="2800" dirty="0" smtClean="0">
                <a:latin typeface="Arial Narrow" pitchFamily="34" charset="0"/>
              </a:rPr>
              <a:t>entries.</a:t>
            </a:r>
          </a:p>
          <a:p>
            <a:pPr marL="514350" indent="-514350" algn="just">
              <a:buFont typeface="+mj-lt"/>
              <a:buAutoNum type="arabicPeriod"/>
            </a:pPr>
            <a:endParaRPr lang="en-GB" sz="1800" dirty="0" smtClean="0">
              <a:latin typeface="Arial Narrow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 smtClean="0">
                <a:latin typeface="Arial Narrow" pitchFamily="34" charset="0"/>
              </a:rPr>
              <a:t>Traditional </a:t>
            </a:r>
            <a:r>
              <a:rPr lang="en-GB" sz="2800" dirty="0" smtClean="0">
                <a:latin typeface="Arial Narrow" pitchFamily="34" charset="0"/>
              </a:rPr>
              <a:t>OCR lacks contextual understanding and struggles with low-quality scans, tables, and multilingual </a:t>
            </a:r>
            <a:r>
              <a:rPr lang="en-GB" sz="2800" dirty="0" smtClean="0">
                <a:latin typeface="Arial Narrow" pitchFamily="34" charset="0"/>
              </a:rPr>
              <a:t>content.</a:t>
            </a:r>
          </a:p>
          <a:p>
            <a:pPr marL="514350" indent="-514350" algn="just">
              <a:buFont typeface="+mj-lt"/>
              <a:buAutoNum type="arabicPeriod"/>
            </a:pPr>
            <a:endParaRPr lang="en-GB" sz="1800" dirty="0" smtClean="0">
              <a:latin typeface="Arial Narrow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 smtClean="0">
                <a:latin typeface="Arial Narrow" pitchFamily="34" charset="0"/>
              </a:rPr>
              <a:t>No </a:t>
            </a:r>
            <a:r>
              <a:rPr lang="en-GB" sz="2800" dirty="0" smtClean="0">
                <a:latin typeface="Arial Narrow" pitchFamily="34" charset="0"/>
              </a:rPr>
              <a:t>financial context awareness, making interpretation of totals, taxes, anomalies, and relationships </a:t>
            </a:r>
            <a:r>
              <a:rPr lang="en-GB" sz="2800" dirty="0" smtClean="0">
                <a:latin typeface="Arial Narrow" pitchFamily="34" charset="0"/>
              </a:rPr>
              <a:t>challenging.</a:t>
            </a:r>
          </a:p>
          <a:p>
            <a:pPr marL="514350" indent="-514350" algn="just">
              <a:buFont typeface="+mj-lt"/>
              <a:buAutoNum type="arabicPeriod"/>
            </a:pPr>
            <a:endParaRPr lang="en-GB" sz="1800" dirty="0" smtClean="0">
              <a:latin typeface="Arial Narrow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GB" sz="2800" dirty="0" smtClean="0">
                <a:latin typeface="Arial Narrow" pitchFamily="34" charset="0"/>
              </a:rPr>
              <a:t>Labour-intensive </a:t>
            </a:r>
            <a:r>
              <a:rPr lang="en-GB" sz="2800" dirty="0" smtClean="0">
                <a:latin typeface="Arial Narrow" pitchFamily="34" charset="0"/>
              </a:rPr>
              <a:t>workflows do not scale for large document volumes and cause operational delays.</a:t>
            </a:r>
          </a:p>
          <a:p>
            <a:pPr marL="514350" lvl="0" indent="-514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lang="en-US" sz="2800" dirty="0">
              <a:latin typeface="Arial Narrow" pitchFamily="34" charset="0"/>
            </a:endParaRP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800" dirty="0">
              <a:latin typeface="Arial Narrow" pitchFamily="34" charset="0"/>
            </a:endParaRP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486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EE3AD3F-07A1-AFDE-5285-2EF41DF75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972" y="1173056"/>
            <a:ext cx="9753213" cy="52890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97469" y="1623848"/>
            <a:ext cx="5157900" cy="4117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4000" b="1" dirty="0" smtClean="0">
                <a:latin typeface="Arial Narrow" pitchFamily="34" charset="0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4000">
              <a:latin typeface="Arial Narrow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4000" dirty="0">
                <a:latin typeface="Arial Narrow" pitchFamily="34" charset="0"/>
                <a:ea typeface="Arial Narrow"/>
                <a:cs typeface="Arial Narrow"/>
                <a:sym typeface="Arial Narrow"/>
              </a:rPr>
              <a:t>1</a:t>
            </a:r>
            <a:r>
              <a:rPr lang="en-US" sz="4000" dirty="0" smtClean="0">
                <a:latin typeface="Arial Narrow" pitchFamily="34" charset="0"/>
                <a:ea typeface="Arial Narrow"/>
                <a:cs typeface="Arial Narrow"/>
                <a:sym typeface="Arial Narrow"/>
              </a:rPr>
              <a:t>. </a:t>
            </a:r>
            <a:r>
              <a:rPr lang="sv-SE" sz="4000" b="1" dirty="0" smtClean="0">
                <a:latin typeface="Arial Narrow" pitchFamily="34" charset="0"/>
              </a:rPr>
              <a:t>Processor</a:t>
            </a:r>
            <a:r>
              <a:rPr lang="sv-SE" sz="4000" dirty="0" smtClean="0">
                <a:latin typeface="Arial Narrow" pitchFamily="34" charset="0"/>
              </a:rPr>
              <a:t>: Intel i5 / AMD Ryzen  </a:t>
            </a:r>
            <a:endParaRPr lang="sv-SE" sz="4000" dirty="0" smtClean="0">
              <a:latin typeface="Arial Narrow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sv-SE" sz="4000" dirty="0" smtClean="0">
                <a:latin typeface="Arial Narrow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sv-SE" sz="4000" b="1" dirty="0" smtClean="0">
                <a:latin typeface="Arial Narrow" pitchFamily="34" charset="0"/>
              </a:rPr>
              <a:t> RAM</a:t>
            </a:r>
            <a:r>
              <a:rPr lang="sv-SE" sz="4000" dirty="0" smtClean="0">
                <a:latin typeface="Arial Narrow" pitchFamily="34" charset="0"/>
              </a:rPr>
              <a:t>: Minimum 16 GB</a:t>
            </a:r>
            <a:endParaRPr lang="sv-SE" sz="4000" dirty="0" smtClean="0">
              <a:latin typeface="Arial Narrow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sv-SE" sz="4000" dirty="0" smtClean="0">
                <a:latin typeface="Arial Narrow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sv-SE" sz="4000" b="1" dirty="0" smtClean="0">
                <a:latin typeface="Arial Narrow" pitchFamily="34" charset="0"/>
              </a:rPr>
              <a:t> Storage</a:t>
            </a:r>
            <a:r>
              <a:rPr lang="sv-SE" sz="4000" dirty="0" smtClean="0">
                <a:latin typeface="Arial Narrow" pitchFamily="34" charset="0"/>
              </a:rPr>
              <a:t>: 512 GB SSD </a:t>
            </a: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sv-SE" sz="4000" dirty="0" smtClean="0">
                <a:latin typeface="Arial Narrow" pitchFamily="34" charset="0"/>
              </a:rPr>
              <a:t>4</a:t>
            </a:r>
            <a:r>
              <a:rPr lang="sv-SE" sz="4000" b="1" dirty="0" smtClean="0">
                <a:latin typeface="Arial Narrow" pitchFamily="34" charset="0"/>
              </a:rPr>
              <a:t>.GPU</a:t>
            </a:r>
            <a:r>
              <a:rPr lang="sv-SE" sz="4000" dirty="0" smtClean="0">
                <a:latin typeface="Arial Narrow" pitchFamily="34" charset="0"/>
              </a:rPr>
              <a:t>: NVIDIA RTX 3060 / 4060 </a:t>
            </a:r>
          </a:p>
          <a:p>
            <a:pPr marL="0" lvl="0" indent="0">
              <a:lnSpc>
                <a:spcPct val="150000"/>
              </a:lnSpc>
              <a:buClr>
                <a:srgbClr val="FF0000"/>
              </a:buClr>
              <a:buSzPts val="2800"/>
              <a:buNone/>
            </a:pPr>
            <a:r>
              <a:rPr lang="sv-SE" sz="4000" dirty="0" smtClean="0">
                <a:latin typeface="Arial Narrow" pitchFamily="34" charset="0"/>
                <a:ea typeface="Arial Narrow"/>
                <a:cs typeface="Arial Narrow"/>
                <a:sym typeface="Arial Narrow"/>
              </a:rPr>
              <a:t>5.</a:t>
            </a:r>
            <a:r>
              <a:rPr lang="sv-SE" sz="4000" b="1" dirty="0" smtClean="0">
                <a:latin typeface="Arial Narrow" pitchFamily="34" charset="0"/>
              </a:rPr>
              <a:t> System</a:t>
            </a:r>
            <a:r>
              <a:rPr lang="sv-SE" sz="4000" dirty="0" smtClean="0">
                <a:latin typeface="Arial Narrow" pitchFamily="34" charset="0"/>
              </a:rPr>
              <a:t>: 64-bit architecture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424372" y="1608083"/>
            <a:ext cx="5499614" cy="474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1200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sz="11200" b="1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430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sz="8600" dirty="0" smtClean="0">
              <a:latin typeface="Arial Narrow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8600" dirty="0" smtClean="0">
                <a:latin typeface="Arial Narrow" pitchFamily="34" charset="0"/>
                <a:ea typeface="Arial Narrow"/>
                <a:cs typeface="Arial Narrow"/>
                <a:sym typeface="Arial Narrow"/>
              </a:rPr>
              <a:t>1.</a:t>
            </a:r>
            <a:r>
              <a:rPr lang="en-US" sz="8600" b="1" dirty="0" smtClean="0">
                <a:latin typeface="Arial Narrow" pitchFamily="34" charset="0"/>
              </a:rPr>
              <a:t> </a:t>
            </a:r>
            <a:r>
              <a:rPr lang="en-US" sz="11200" b="1" dirty="0" smtClean="0">
                <a:latin typeface="Arial Narrow" pitchFamily="34" charset="0"/>
              </a:rPr>
              <a:t>Operating System</a:t>
            </a:r>
            <a:r>
              <a:rPr lang="en-US" sz="11200" dirty="0" smtClean="0">
                <a:latin typeface="Arial Narrow" pitchFamily="34" charset="0"/>
              </a:rPr>
              <a:t>: Windows 10/11 </a:t>
            </a:r>
            <a:r>
              <a:rPr lang="en-US" sz="11200" dirty="0" smtClean="0">
                <a:latin typeface="Arial Narrow" pitchFamily="34" charset="0"/>
              </a:rPr>
              <a:t>    	                         (</a:t>
            </a:r>
            <a:r>
              <a:rPr lang="en-US" sz="11200" dirty="0" smtClean="0">
                <a:latin typeface="Arial Narrow" pitchFamily="34" charset="0"/>
              </a:rPr>
              <a:t>64-bit)</a:t>
            </a:r>
            <a:endParaRPr lang="en-US" sz="11200" dirty="0" smtClean="0">
              <a:latin typeface="Arial Narrow" pitchFamily="34" charset="0"/>
              <a:ea typeface="Arial Narrow"/>
              <a:cs typeface="Arial Narrow"/>
              <a:sym typeface="Arial Narrow"/>
            </a:endParaRPr>
          </a:p>
          <a:p>
            <a:pPr marL="0" lvl="0" indent="0">
              <a:lnSpc>
                <a:spcPct val="110000"/>
              </a:lnSpc>
              <a:buClr>
                <a:srgbClr val="FF0000"/>
              </a:buClr>
              <a:buSzPts val="2800"/>
              <a:buNone/>
            </a:pPr>
            <a:r>
              <a:rPr lang="en-US" sz="11200" dirty="0" smtClean="0">
                <a:latin typeface="Arial Narrow" pitchFamily="34" charset="0"/>
                <a:ea typeface="Arial Narrow"/>
                <a:cs typeface="Arial Narrow"/>
                <a:sym typeface="Arial Narrow"/>
              </a:rPr>
              <a:t>2.</a:t>
            </a:r>
            <a:r>
              <a:rPr lang="en-US" sz="11200" b="1" dirty="0" smtClean="0">
                <a:latin typeface="Arial Narrow" pitchFamily="34" charset="0"/>
              </a:rPr>
              <a:t> Programming Language</a:t>
            </a:r>
            <a:r>
              <a:rPr lang="en-US" sz="11200" dirty="0" smtClean="0">
                <a:latin typeface="Arial Narrow" pitchFamily="34" charset="0"/>
              </a:rPr>
              <a:t>: Python </a:t>
            </a:r>
            <a:r>
              <a:rPr lang="en-US" sz="11200" dirty="0" smtClean="0">
                <a:latin typeface="Arial Narrow" pitchFamily="34" charset="0"/>
              </a:rPr>
              <a:t>9</a:t>
            </a:r>
            <a:r>
              <a:rPr lang="en-US" sz="11200" dirty="0" smtClean="0">
                <a:latin typeface="Arial Narrow" pitchFamily="34" charset="0"/>
              </a:rPr>
              <a:t>+</a:t>
            </a:r>
          </a:p>
          <a:p>
            <a:pPr marL="0" lvl="0" indent="0">
              <a:lnSpc>
                <a:spcPct val="110000"/>
              </a:lnSpc>
              <a:buClr>
                <a:srgbClr val="FF0000"/>
              </a:buClr>
              <a:buSzPts val="2800"/>
              <a:buNone/>
            </a:pPr>
            <a:r>
              <a:rPr lang="en-US" sz="11200" dirty="0" smtClean="0">
                <a:latin typeface="Arial Narrow" pitchFamily="34" charset="0"/>
                <a:ea typeface="Arial Narrow"/>
                <a:cs typeface="Arial Narrow"/>
                <a:sym typeface="Arial Narrow"/>
              </a:rPr>
              <a:t>3.</a:t>
            </a:r>
            <a:r>
              <a:rPr lang="en-US" sz="11200" b="1" dirty="0" smtClean="0">
                <a:latin typeface="Arial Narrow" pitchFamily="34" charset="0"/>
              </a:rPr>
              <a:t> Frameworks &amp; Libraries</a:t>
            </a:r>
            <a:r>
              <a:rPr lang="en-US" sz="11200" dirty="0" smtClean="0">
                <a:latin typeface="Arial Narrow" pitchFamily="34" charset="0"/>
              </a:rPr>
              <a:t>:</a:t>
            </a:r>
          </a:p>
          <a:p>
            <a:pPr marL="0" lvl="0" indent="0">
              <a:lnSpc>
                <a:spcPct val="110000"/>
              </a:lnSpc>
              <a:buClr>
                <a:srgbClr val="FF0000"/>
              </a:buClr>
              <a:buSzPts val="2800"/>
              <a:buNone/>
            </a:pPr>
            <a:r>
              <a:rPr lang="en-US" sz="11200" dirty="0" smtClean="0">
                <a:latin typeface="Arial Narrow" pitchFamily="34" charset="0"/>
              </a:rPr>
              <a:t>	</a:t>
            </a:r>
            <a:r>
              <a:rPr lang="en-US" sz="11200" dirty="0" err="1" smtClean="0">
                <a:latin typeface="Arial Narrow" pitchFamily="34" charset="0"/>
              </a:rPr>
              <a:t>PyTorch</a:t>
            </a:r>
            <a:r>
              <a:rPr lang="en-US" sz="11200" dirty="0" smtClean="0">
                <a:latin typeface="Arial Narrow" pitchFamily="34" charset="0"/>
              </a:rPr>
              <a:t>/</a:t>
            </a:r>
            <a:r>
              <a:rPr lang="en-US" sz="11200" dirty="0" err="1" smtClean="0">
                <a:latin typeface="Arial Narrow" pitchFamily="34" charset="0"/>
              </a:rPr>
              <a:t>Tensorflow</a:t>
            </a:r>
            <a:endParaRPr lang="en-US" sz="11200" dirty="0" smtClean="0">
              <a:latin typeface="Arial Narrow" pitchFamily="34" charset="0"/>
            </a:endParaRPr>
          </a:p>
          <a:p>
            <a:pPr marL="0" lvl="0" indent="0">
              <a:lnSpc>
                <a:spcPct val="110000"/>
              </a:lnSpc>
              <a:buClr>
                <a:srgbClr val="FF0000"/>
              </a:buClr>
              <a:buSzPts val="2800"/>
              <a:buNone/>
            </a:pPr>
            <a:r>
              <a:rPr lang="en-US" sz="11200" dirty="0" smtClean="0">
                <a:latin typeface="Arial Narrow" pitchFamily="34" charset="0"/>
              </a:rPr>
              <a:t>	</a:t>
            </a:r>
            <a:r>
              <a:rPr lang="en-US" sz="11200" dirty="0" err="1" smtClean="0">
                <a:latin typeface="Arial Narrow" pitchFamily="34" charset="0"/>
              </a:rPr>
              <a:t>Langchain</a:t>
            </a:r>
            <a:endParaRPr lang="en-US" sz="11200" dirty="0" smtClean="0">
              <a:latin typeface="Arial Narrow" pitchFamily="34" charset="0"/>
            </a:endParaRPr>
          </a:p>
          <a:p>
            <a:pPr marL="0" lvl="0" indent="0">
              <a:lnSpc>
                <a:spcPct val="110000"/>
              </a:lnSpc>
              <a:buClr>
                <a:srgbClr val="FF0000"/>
              </a:buClr>
              <a:buSzPts val="2800"/>
              <a:buNone/>
            </a:pPr>
            <a:r>
              <a:rPr lang="en-US" sz="11200" dirty="0" smtClean="0">
                <a:latin typeface="Arial Narrow" pitchFamily="34" charset="0"/>
              </a:rPr>
              <a:t>	</a:t>
            </a:r>
            <a:r>
              <a:rPr lang="en-US" sz="11200" dirty="0" err="1" smtClean="0">
                <a:latin typeface="Arial Narrow" pitchFamily="34" charset="0"/>
              </a:rPr>
              <a:t>Scikit</a:t>
            </a:r>
            <a:r>
              <a:rPr lang="en-US" sz="11200" dirty="0" smtClean="0">
                <a:latin typeface="Arial Narrow" pitchFamily="34" charset="0"/>
              </a:rPr>
              <a:t>-learn</a:t>
            </a:r>
          </a:p>
          <a:p>
            <a:pPr marL="0" lvl="0" indent="0">
              <a:lnSpc>
                <a:spcPct val="110000"/>
              </a:lnSpc>
              <a:buClr>
                <a:srgbClr val="FF0000"/>
              </a:buClr>
              <a:buSzPts val="2800"/>
              <a:buNone/>
            </a:pPr>
            <a:r>
              <a:rPr lang="en-US" sz="11200" dirty="0" smtClean="0">
                <a:latin typeface="Arial Narrow" pitchFamily="34" charset="0"/>
              </a:rPr>
              <a:t>4. </a:t>
            </a:r>
            <a:r>
              <a:rPr lang="en-US" sz="11200" b="1" dirty="0" smtClean="0">
                <a:latin typeface="Arial Narrow" pitchFamily="34" charset="0"/>
              </a:rPr>
              <a:t>Database : </a:t>
            </a:r>
            <a:r>
              <a:rPr lang="en-US" sz="11200" dirty="0" err="1" smtClean="0">
                <a:latin typeface="Arial Narrow" pitchFamily="34" charset="0"/>
              </a:rPr>
              <a:t>PostgreSQL</a:t>
            </a:r>
            <a:r>
              <a:rPr lang="en-US" sz="11200" dirty="0" smtClean="0">
                <a:latin typeface="Arial Narrow" pitchFamily="34" charset="0"/>
              </a:rPr>
              <a:t> / </a:t>
            </a:r>
            <a:r>
              <a:rPr lang="en-US" sz="11200" dirty="0" err="1" smtClean="0">
                <a:latin typeface="Arial Narrow" pitchFamily="34" charset="0"/>
              </a:rPr>
              <a:t>MongoDB</a:t>
            </a:r>
            <a:endParaRPr lang="en-US" sz="8600" b="1" dirty="0" smtClean="0">
              <a:latin typeface="Arial Narrow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+mj-lt"/>
              <a:buAutoNum type="arabicPeriod"/>
            </a:pPr>
            <a: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DOCUMENT </a:t>
            </a:r>
            <a:r>
              <a:rPr lang="en-IN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INGESTION </a:t>
            </a:r>
            <a: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MODULE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+mj-lt"/>
              <a:buAutoNum type="arabicPeriod"/>
            </a:pPr>
            <a:endParaRPr lang="en-IN" b="1" dirty="0" smtClean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+mj-lt"/>
              <a:buAutoNum type="arabicPeriod"/>
            </a:pPr>
            <a: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DATA </a:t>
            </a:r>
            <a:r>
              <a:rPr lang="en-IN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EXTRACTION AND COLLECTION </a:t>
            </a:r>
            <a: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MODULE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+mj-lt"/>
              <a:buAutoNum type="arabicPeriod"/>
            </a:pPr>
            <a:endParaRPr lang="en-IN" b="1" dirty="0" smtClean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+mj-lt"/>
              <a:buAutoNum type="arabicPeriod"/>
            </a:pPr>
            <a: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PRIVACY-PRESERVING </a:t>
            </a:r>
            <a:r>
              <a:rPr lang="en-IN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ANALYSIS </a:t>
            </a:r>
            <a: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MODULE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+mj-lt"/>
              <a:buAutoNum type="arabicPeriod"/>
            </a:pPr>
            <a:endParaRPr lang="en-IN" b="1" dirty="0" smtClean="0">
              <a:latin typeface="Arial Narrow" panose="020B0606020202030204" pitchFamily="34" charset="0"/>
              <a:cs typeface="Times New Roman"/>
              <a:sym typeface="Times New Roman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+mj-lt"/>
              <a:buAutoNum type="arabicPeriod"/>
            </a:pPr>
            <a:r>
              <a:rPr lang="en-US" b="1" dirty="0" smtClean="0">
                <a:latin typeface="Arial Narrow" pitchFamily="34" charset="0"/>
              </a:rPr>
              <a:t>MULTI-AGENT COLLABORATION MODULE</a:t>
            </a:r>
            <a:endParaRPr lang="en-US" b="1" dirty="0">
              <a:latin typeface="Arial Narrow" pitchFamily="34" charset="0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+mj-lt"/>
              <a:buAutoNum type="arabicPeriod"/>
            </a:pPr>
            <a:endParaRPr lang="en-US" b="1" dirty="0" smtClean="0">
              <a:latin typeface="Arial Narrow" pitchFamily="34" charset="0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+mj-lt"/>
              <a:buAutoNum type="arabicPeriod"/>
            </a:pPr>
            <a:r>
              <a:rPr lang="en-US" b="1" dirty="0" smtClean="0">
                <a:latin typeface="Arial Narrow" pitchFamily="34" charset="0"/>
              </a:rPr>
              <a:t>RISK AND COMPLIANCE CHECKING MODULE</a:t>
            </a:r>
            <a:endParaRPr dirty="0">
              <a:latin typeface="Arial Narrow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693683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SzPct val="100000"/>
            </a:pPr>
            <a: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DOCUMENT INGESTION MODULE</a:t>
            </a:r>
            <a:b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</a:b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Arial Narrow" pitchFamily="34" charset="0"/>
              </a:rPr>
              <a:t>Collects and uploads financial documents in multiple formats (PDF, Word, Excel, Scanned Images).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 Narrow" pitchFamily="34" charset="0"/>
              </a:rPr>
              <a:t>Performs </a:t>
            </a:r>
            <a:r>
              <a:rPr lang="en-US" b="1" dirty="0" smtClean="0">
                <a:latin typeface="Arial Narrow" pitchFamily="34" charset="0"/>
              </a:rPr>
              <a:t>preprocessing</a:t>
            </a:r>
            <a:r>
              <a:rPr lang="en-US" dirty="0" smtClean="0">
                <a:latin typeface="Arial Narrow" pitchFamily="34" charset="0"/>
              </a:rPr>
              <a:t> such as Optical Character Recognition (OCR), text cleaning, and format normalization.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 Narrow" pitchFamily="34" charset="0"/>
              </a:rPr>
              <a:t>Acts as the </a:t>
            </a:r>
            <a:r>
              <a:rPr lang="en-US" b="1" dirty="0" smtClean="0">
                <a:latin typeface="Arial Narrow" pitchFamily="34" charset="0"/>
              </a:rPr>
              <a:t>entry point</a:t>
            </a:r>
            <a:r>
              <a:rPr lang="en-US" dirty="0" smtClean="0">
                <a:latin typeface="Arial Narrow" pitchFamily="34" charset="0"/>
              </a:rPr>
              <a:t> of the system, ensuring documents are ready for further analysis.</a:t>
            </a: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=""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>
                <a:latin typeface="Arial Narrow" pitchFamily="34" charset="0"/>
              </a:rPr>
              <a:t>Extracts key financial entities (names, dates, transaction IDs, amounts, account details).</a:t>
            </a:r>
          </a:p>
          <a:p>
            <a:pPr algn="just">
              <a:lnSpc>
                <a:spcPct val="150000"/>
              </a:lnSpc>
            </a:pPr>
            <a:r>
              <a:rPr lang="en-IN" dirty="0" smtClean="0">
                <a:latin typeface="Arial Narrow" pitchFamily="34" charset="0"/>
              </a:rPr>
              <a:t>Uses </a:t>
            </a:r>
            <a:r>
              <a:rPr lang="en-IN" b="1" dirty="0" smtClean="0">
                <a:latin typeface="Arial Narrow" pitchFamily="34" charset="0"/>
              </a:rPr>
              <a:t>Natural Language Processing (NLP)</a:t>
            </a:r>
            <a:r>
              <a:rPr lang="en-IN" dirty="0" smtClean="0">
                <a:latin typeface="Arial Narrow" pitchFamily="34" charset="0"/>
              </a:rPr>
              <a:t> and </a:t>
            </a:r>
            <a:r>
              <a:rPr lang="en-IN" b="1" dirty="0" smtClean="0">
                <a:latin typeface="Arial Narrow" pitchFamily="34" charset="0"/>
              </a:rPr>
              <a:t>Local Large Language Models (LLMs)</a:t>
            </a:r>
            <a:r>
              <a:rPr lang="en-IN" dirty="0" smtClean="0">
                <a:latin typeface="Arial Narrow" pitchFamily="34" charset="0"/>
              </a:rPr>
              <a:t> to understand document context.</a:t>
            </a:r>
          </a:p>
          <a:p>
            <a:pPr algn="just">
              <a:lnSpc>
                <a:spcPct val="150000"/>
              </a:lnSpc>
            </a:pPr>
            <a:r>
              <a:rPr lang="en-IN" dirty="0" smtClean="0">
                <a:latin typeface="Arial Narrow" pitchFamily="34" charset="0"/>
              </a:rPr>
              <a:t>Classifies documents into categories (e.g., invoice, contract, bank statement, tax report) for efficient analysis.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36260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DATA EXTRACTION AND COLLECTION MODULE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>
                <a:latin typeface="Arial Narrow" pitchFamily="34" charset="0"/>
              </a:rPr>
              <a:t>Ensures all data is processed </a:t>
            </a:r>
            <a:r>
              <a:rPr lang="en-IN" b="1" dirty="0" smtClean="0">
                <a:latin typeface="Arial Narrow" pitchFamily="34" charset="0"/>
              </a:rPr>
              <a:t>locally</a:t>
            </a:r>
            <a:r>
              <a:rPr lang="en-IN" dirty="0" smtClean="0">
                <a:latin typeface="Arial Narrow" pitchFamily="34" charset="0"/>
              </a:rPr>
              <a:t>, avoiding risks of cloud-based LLMs.</a:t>
            </a:r>
          </a:p>
          <a:p>
            <a:pPr algn="just">
              <a:lnSpc>
                <a:spcPct val="150000"/>
              </a:lnSpc>
            </a:pPr>
            <a:r>
              <a:rPr lang="en-IN" dirty="0" smtClean="0">
                <a:latin typeface="Arial Narrow" pitchFamily="34" charset="0"/>
              </a:rPr>
              <a:t>Implements </a:t>
            </a:r>
            <a:r>
              <a:rPr lang="en-IN" b="1" dirty="0" smtClean="0">
                <a:latin typeface="Arial Narrow" pitchFamily="34" charset="0"/>
              </a:rPr>
              <a:t>encryption, access control, and differential privacy</a:t>
            </a:r>
            <a:r>
              <a:rPr lang="en-IN" dirty="0" smtClean="0">
                <a:latin typeface="Arial Narrow" pitchFamily="34" charset="0"/>
              </a:rPr>
              <a:t> techniques.</a:t>
            </a:r>
          </a:p>
          <a:p>
            <a:pPr algn="just">
              <a:lnSpc>
                <a:spcPct val="150000"/>
              </a:lnSpc>
            </a:pPr>
            <a:r>
              <a:rPr lang="en-IN" dirty="0" smtClean="0">
                <a:latin typeface="Arial Narrow" pitchFamily="34" charset="0"/>
              </a:rPr>
              <a:t>Provides a secure environment for sensitive financial information during AI-driven analysis.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91440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SzPct val="100000"/>
            </a:pPr>
            <a: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PRIVACY-PRESERVING ANALYSIS MODULE</a:t>
            </a:r>
            <a:br>
              <a:rPr lang="en-IN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</a:b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838200" y="1308538"/>
            <a:ext cx="10515600" cy="486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algn="just"/>
            <a:r>
              <a:rPr lang="en-GB" sz="3000" dirty="0" smtClean="0">
                <a:latin typeface="Arial Narrow" pitchFamily="34" charset="0"/>
              </a:rPr>
              <a:t>The system deploys multiple specialized agents, each implemented as an independent task-oriented component with its own processing logic.</a:t>
            </a:r>
          </a:p>
          <a:p>
            <a:pPr algn="just"/>
            <a:r>
              <a:rPr lang="en-GB" sz="3000" dirty="0" smtClean="0">
                <a:latin typeface="Arial Narrow" pitchFamily="34" charset="0"/>
              </a:rPr>
              <a:t>The </a:t>
            </a:r>
            <a:r>
              <a:rPr lang="en-GB" sz="3000" b="1" dirty="0" smtClean="0">
                <a:latin typeface="Arial Narrow" pitchFamily="34" charset="0"/>
              </a:rPr>
              <a:t>Extraction Agent</a:t>
            </a:r>
            <a:r>
              <a:rPr lang="en-GB" sz="3000" dirty="0" smtClean="0">
                <a:latin typeface="Arial Narrow" pitchFamily="34" charset="0"/>
              </a:rPr>
              <a:t> parses the input document, identifies key entities, and converts unstructured text into structured financial data fields.</a:t>
            </a:r>
          </a:p>
          <a:p>
            <a:pPr algn="just"/>
            <a:r>
              <a:rPr lang="en-GB" sz="3000" dirty="0" smtClean="0">
                <a:latin typeface="Arial Narrow" pitchFamily="34" charset="0"/>
              </a:rPr>
              <a:t>The </a:t>
            </a:r>
            <a:r>
              <a:rPr lang="en-GB" sz="3000" b="1" dirty="0" smtClean="0">
                <a:latin typeface="Arial Narrow" pitchFamily="34" charset="0"/>
              </a:rPr>
              <a:t>Compliance Agent</a:t>
            </a:r>
            <a:r>
              <a:rPr lang="en-GB" sz="3000" dirty="0" smtClean="0">
                <a:latin typeface="Arial Narrow" pitchFamily="34" charset="0"/>
              </a:rPr>
              <a:t> processes the extracted data and validates it against stored regulatory, tax, and industry-specific rule sets.</a:t>
            </a:r>
          </a:p>
          <a:p>
            <a:pPr algn="just"/>
            <a:r>
              <a:rPr lang="en-GB" sz="3000" dirty="0" smtClean="0">
                <a:latin typeface="Arial Narrow" pitchFamily="34" charset="0"/>
              </a:rPr>
              <a:t>The </a:t>
            </a:r>
            <a:r>
              <a:rPr lang="en-GB" sz="3000" b="1" dirty="0" smtClean="0">
                <a:latin typeface="Arial Narrow" pitchFamily="34" charset="0"/>
              </a:rPr>
              <a:t>Risk Agent</a:t>
            </a:r>
            <a:r>
              <a:rPr lang="en-GB" sz="3000" dirty="0" smtClean="0">
                <a:latin typeface="Arial Narrow" pitchFamily="34" charset="0"/>
              </a:rPr>
              <a:t> performs anomaly detection by applying statistical checks and AI-based fraud detection models to flag suspicious patterns.</a:t>
            </a:r>
          </a:p>
          <a:p>
            <a:pPr algn="just"/>
            <a:r>
              <a:rPr lang="en-GB" sz="3000" dirty="0" smtClean="0">
                <a:latin typeface="Arial Narrow" pitchFamily="34" charset="0"/>
              </a:rPr>
              <a:t>The </a:t>
            </a:r>
            <a:r>
              <a:rPr lang="en-GB" sz="3000" b="1" dirty="0" smtClean="0">
                <a:latin typeface="Arial Narrow" pitchFamily="34" charset="0"/>
              </a:rPr>
              <a:t>Report Agent</a:t>
            </a:r>
            <a:r>
              <a:rPr lang="en-GB" sz="3000" dirty="0" smtClean="0">
                <a:latin typeface="Arial Narrow" pitchFamily="34" charset="0"/>
              </a:rPr>
              <a:t> aggregates validated outputs from all agents and generates concise summaries, insights, and decision-ready reports.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409903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 smtClean="0">
                <a:latin typeface="Arial Narrow" pitchFamily="34" charset="0"/>
              </a:rPr>
              <a:t>MULTI-AGENT COLLABORATION MODULE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-268015" y="1592317"/>
            <a:ext cx="11540359" cy="45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71600" lvl="3" indent="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GB" sz="2600" dirty="0" smtClean="0">
                <a:latin typeface="Arial Narrow" pitchFamily="34" charset="0"/>
              </a:rPr>
              <a:t>    </a:t>
            </a:r>
            <a:r>
              <a:rPr lang="en-GB" sz="2800" dirty="0" smtClean="0">
                <a:latin typeface="Arial Narrow" pitchFamily="34" charset="0"/>
              </a:rPr>
              <a:t>This </a:t>
            </a:r>
            <a:r>
              <a:rPr lang="en-GB" sz="2800" dirty="0" smtClean="0">
                <a:latin typeface="Arial Narrow" pitchFamily="34" charset="0"/>
              </a:rPr>
              <a:t>module cross-checks extracted financial fields against legal, tax, and  </a:t>
            </a:r>
            <a:r>
              <a:rPr lang="en-GB" sz="2800" dirty="0" smtClean="0">
                <a:latin typeface="Arial Narrow" pitchFamily="34" charset="0"/>
              </a:rPr>
              <a:t>       	regulatory </a:t>
            </a:r>
            <a:r>
              <a:rPr lang="en-GB" sz="2800" dirty="0" smtClean="0">
                <a:latin typeface="Arial Narrow" pitchFamily="34" charset="0"/>
              </a:rPr>
              <a:t>rules stored in the system’s compliance library. </a:t>
            </a:r>
            <a:endParaRPr lang="en-GB" sz="2800" dirty="0" smtClean="0">
              <a:latin typeface="Arial Narrow" pitchFamily="34" charset="0"/>
            </a:endParaRPr>
          </a:p>
          <a:p>
            <a:pPr marL="1371600" lvl="3" indent="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GB" sz="2800" dirty="0" smtClean="0">
                <a:latin typeface="Arial Narrow" pitchFamily="34" charset="0"/>
              </a:rPr>
              <a:t> </a:t>
            </a:r>
            <a:r>
              <a:rPr lang="en-GB" sz="2800" dirty="0" smtClean="0">
                <a:latin typeface="Arial Narrow" pitchFamily="34" charset="0"/>
              </a:rPr>
              <a:t>   Detects </a:t>
            </a:r>
            <a:r>
              <a:rPr lang="en-GB" sz="2800" dirty="0" smtClean="0">
                <a:latin typeface="Arial Narrow" pitchFamily="34" charset="0"/>
              </a:rPr>
              <a:t>anomalies, inconsistencies, and potential fraud using rule-based </a:t>
            </a:r>
            <a:r>
              <a:rPr lang="en-GB" sz="2800" dirty="0" smtClean="0">
                <a:latin typeface="Arial Narrow" pitchFamily="34" charset="0"/>
              </a:rPr>
              <a:t>   	checks </a:t>
            </a:r>
            <a:r>
              <a:rPr lang="en-GB" sz="2800" dirty="0" smtClean="0">
                <a:latin typeface="Arial Narrow" pitchFamily="34" charset="0"/>
              </a:rPr>
              <a:t>and AI-driven models. 	</a:t>
            </a:r>
            <a:endParaRPr lang="en-GB" sz="2800" dirty="0" smtClean="0">
              <a:latin typeface="Arial Narrow" pitchFamily="34" charset="0"/>
            </a:endParaRPr>
          </a:p>
          <a:p>
            <a:pPr marL="1371600" lvl="3" indent="0" algn="just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GB" sz="2800" dirty="0" smtClean="0">
                <a:latin typeface="Arial Narrow" pitchFamily="34" charset="0"/>
              </a:rPr>
              <a:t> </a:t>
            </a:r>
            <a:r>
              <a:rPr lang="en-GB" sz="2800" dirty="0" smtClean="0">
                <a:latin typeface="Arial Narrow" pitchFamily="34" charset="0"/>
              </a:rPr>
              <a:t>   Generates </a:t>
            </a:r>
            <a:r>
              <a:rPr lang="en-GB" sz="2800" dirty="0" smtClean="0">
                <a:latin typeface="Arial Narrow" pitchFamily="34" charset="0"/>
              </a:rPr>
              <a:t>alerts, assigns risk scores, and logs issues to support auditors </a:t>
            </a:r>
            <a:r>
              <a:rPr lang="en-GB" sz="2800" dirty="0" smtClean="0">
                <a:latin typeface="Arial Narrow" pitchFamily="34" charset="0"/>
              </a:rPr>
              <a:t>	and </a:t>
            </a:r>
            <a:r>
              <a:rPr lang="en-GB" sz="2800" dirty="0" smtClean="0">
                <a:latin typeface="Arial Narrow" pitchFamily="34" charset="0"/>
              </a:rPr>
              <a:t>analysts in making informed decisions.</a:t>
            </a:r>
          </a:p>
          <a:p>
            <a:pPr marL="1371600" lvl="3" indent="0" algn="just">
              <a:lnSpc>
                <a:spcPct val="150000"/>
              </a:lnSpc>
              <a:spcBef>
                <a:spcPts val="0"/>
              </a:spcBef>
              <a:buSzPts val="2800"/>
            </a:pPr>
            <a:endParaRPr lang="en-US" sz="2600" dirty="0">
              <a:latin typeface="Arial Narrow" pitchFamily="34" charset="0"/>
            </a:endParaRP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472966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 smtClean="0">
                <a:latin typeface="Arial Narrow" pitchFamily="34" charset="0"/>
              </a:rPr>
              <a:t>RISK AND COMPLIANCE CHECKING MODULE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26070" y="0"/>
            <a:ext cx="5612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 smtClean="0">
                <a:latin typeface="Arial Narrow" pitchFamily="34" charset="0"/>
              </a:rPr>
              <a:t>SAMPLE OUTPUT</a:t>
            </a:r>
            <a:endParaRPr lang="en-US" sz="4000" b="1" dirty="0">
              <a:latin typeface="Arial Narrow" pitchFamily="34" charset="0"/>
            </a:endParaRPr>
          </a:p>
        </p:txBody>
      </p:sp>
      <p:pic>
        <p:nvPicPr>
          <p:cNvPr id="6" name="Picture 5" descr="WhatsApp Image 2025-11-26 at 14.17.24_d1d717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917"/>
            <a:ext cx="12192000" cy="61800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-US"/>
          </a:p>
        </p:txBody>
      </p:sp>
      <p:pic>
        <p:nvPicPr>
          <p:cNvPr id="4" name="Picture 3" descr="WhatsApp Image 2025-11-26 at 14.17.24_9214ada8.jpg"/>
          <p:cNvPicPr>
            <a:picLocks noChangeAspect="1"/>
          </p:cNvPicPr>
          <p:nvPr/>
        </p:nvPicPr>
        <p:blipFill>
          <a:blip r:embed="rId2"/>
          <a:srcRect t="7248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481959"/>
            <a:ext cx="10515600" cy="4695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IN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</a:t>
            </a:r>
            <a:r>
              <a:rPr lang="en-IN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proposed AI-Driven Financial Document Analysis Framework using local large language models and a multi-agent architecture provides a secure, scalable, and intelligent solution for financial institutions. </a:t>
            </a:r>
            <a:endParaRPr lang="en-IN" dirty="0" smtClean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514350" lvl="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endParaRPr lang="en-IN" dirty="0" smtClean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514350" lvl="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IN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By </a:t>
            </a:r>
            <a:r>
              <a:rPr lang="en-IN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automating document processing while preserving privacy, the system minimizes manual effort, reduces errors, ensures compliance with regulations, and detects potential risks or fraud in real time. </a:t>
            </a:r>
            <a:endParaRPr lang="en-IN" dirty="0" smtClean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514350" lvl="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endParaRPr lang="en-IN" dirty="0" smtClean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514350" lvl="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IN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This </a:t>
            </a:r>
            <a:r>
              <a:rPr lang="en-IN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framework not only enhances operational efficiency but also builds trust through data confidentiality, making it a future-ready approach for the financial sector.</a:t>
            </a:r>
            <a:endParaRPr lang="en-US" dirty="0">
              <a:latin typeface="Arial Narrow" panose="020B0606020202030204" pitchFamily="34" charset="0"/>
            </a:endParaRPr>
          </a:p>
          <a:p>
            <a:pPr marL="0" lvl="0" indent="0"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=""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=""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=""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628650" indent="-514350" algn="just">
              <a:buFont typeface="+mj-lt"/>
              <a:buAutoNum type="arabicPeriod"/>
            </a:pPr>
            <a:r>
              <a:rPr lang="en-US" sz="3000" dirty="0" smtClean="0">
                <a:latin typeface="Arial Narrow" pitchFamily="34" charset="0"/>
              </a:rPr>
              <a:t>Add </a:t>
            </a:r>
            <a:r>
              <a:rPr lang="en-US" sz="3000" b="1" dirty="0" smtClean="0">
                <a:latin typeface="Arial Narrow" pitchFamily="34" charset="0"/>
              </a:rPr>
              <a:t>AI-powered multi-document analysis</a:t>
            </a:r>
            <a:r>
              <a:rPr lang="en-US" sz="3000" dirty="0" smtClean="0">
                <a:latin typeface="Arial Narrow" pitchFamily="34" charset="0"/>
              </a:rPr>
              <a:t> for cross-referencing invoices, receipts, and statements. 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US" sz="3000" dirty="0" smtClean="0">
                <a:latin typeface="Arial Narrow" pitchFamily="34" charset="0"/>
              </a:rPr>
              <a:t>Improve </a:t>
            </a:r>
            <a:r>
              <a:rPr lang="en-US" sz="3000" b="1" dirty="0" smtClean="0">
                <a:latin typeface="Arial Narrow" pitchFamily="34" charset="0"/>
              </a:rPr>
              <a:t>interoperability and data standardization</a:t>
            </a:r>
            <a:r>
              <a:rPr lang="en-US" sz="3000" dirty="0" smtClean="0">
                <a:latin typeface="Arial Narrow" pitchFamily="34" charset="0"/>
              </a:rPr>
              <a:t> across banks, vendors, and financial platforms. 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US" sz="3000" dirty="0" smtClean="0">
                <a:latin typeface="Arial Narrow" pitchFamily="34" charset="0"/>
              </a:rPr>
              <a:t>Integrate </a:t>
            </a:r>
            <a:r>
              <a:rPr lang="en-US" sz="3000" b="1" dirty="0" smtClean="0">
                <a:latin typeface="Arial Narrow" pitchFamily="34" charset="0"/>
              </a:rPr>
              <a:t>advanced financial analytics and reporting tools</a:t>
            </a:r>
            <a:r>
              <a:rPr lang="en-US" sz="3000" dirty="0" smtClean="0">
                <a:latin typeface="Arial Narrow" pitchFamily="34" charset="0"/>
              </a:rPr>
              <a:t> like dashboards, forecasting, and anomaly detection. 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US" sz="3000" dirty="0" smtClean="0">
                <a:latin typeface="Arial Narrow" pitchFamily="34" charset="0"/>
              </a:rPr>
              <a:t>Enhance </a:t>
            </a:r>
            <a:r>
              <a:rPr lang="en-US" sz="3000" b="1" dirty="0" smtClean="0">
                <a:latin typeface="Arial Narrow" pitchFamily="34" charset="0"/>
              </a:rPr>
              <a:t>system scalability and modular expansion</a:t>
            </a:r>
            <a:r>
              <a:rPr lang="en-US" sz="3000" dirty="0" smtClean="0">
                <a:latin typeface="Arial Narrow" pitchFamily="34" charset="0"/>
              </a:rPr>
              <a:t> for enterprise-level usage.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GB" sz="3000" b="1" dirty="0" smtClean="0">
                <a:latin typeface="Arial Narrow" pitchFamily="34" charset="0"/>
              </a:rPr>
              <a:t>Mobile application expansion</a:t>
            </a:r>
            <a:r>
              <a:rPr lang="en-GB" sz="3000" dirty="0" smtClean="0">
                <a:latin typeface="Arial Narrow" pitchFamily="34" charset="0"/>
              </a:rPr>
              <a:t> with features such as on-device document scanning, instant AI-based extraction, and offline secure processing.</a:t>
            </a:r>
            <a:endParaRPr lang="en-US" sz="3000" dirty="0" smtClean="0">
              <a:latin typeface="Arial Narrow" pitchFamily="34" charset="0"/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=""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1180</Words>
  <Application>Microsoft Office PowerPoint</Application>
  <PresentationFormat>Custom</PresentationFormat>
  <Paragraphs>182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Narrow</vt:lpstr>
      <vt:lpstr>Calibri</vt:lpstr>
      <vt:lpstr>Times New Roman</vt:lpstr>
      <vt:lpstr>Office Theme</vt:lpstr>
      <vt:lpstr>Slide 1</vt:lpstr>
      <vt:lpstr>Slide 2</vt:lpstr>
      <vt:lpstr>OBJECTIVE OF THE PROJECT</vt:lpstr>
      <vt:lpstr>INTRODUCTION</vt:lpstr>
      <vt:lpstr>Slide 5</vt:lpstr>
      <vt:lpstr>Slide 6</vt:lpstr>
      <vt:lpstr>Slide 7</vt:lpstr>
      <vt:lpstr>Slide 8</vt:lpstr>
      <vt:lpstr>Slide 9</vt:lpstr>
      <vt:lpstr>SOFTWARE AND HARDWARE REQUIREMENTS </vt:lpstr>
      <vt:lpstr>MODULES </vt:lpstr>
      <vt:lpstr>DOCUMENT INGESTION MODULE </vt:lpstr>
      <vt:lpstr>DATA EXTRACTION AND COLLECTION MODULE</vt:lpstr>
      <vt:lpstr>PRIVACY-PRESERVING ANALYSIS MODULE </vt:lpstr>
      <vt:lpstr>MULTI-AGENT COLLABORATION MODULE</vt:lpstr>
      <vt:lpstr>RISK AND COMPLIANCE CHECKING MODULE</vt:lpstr>
      <vt:lpstr>Slide 17</vt:lpstr>
      <vt:lpstr>Slide 18</vt:lpstr>
      <vt:lpstr>CONCLUSION</vt:lpstr>
      <vt:lpstr>FUTURE ENHANCEMENTS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GOD</cp:lastModifiedBy>
  <cp:revision>30</cp:revision>
  <dcterms:modified xsi:type="dcterms:W3CDTF">2025-11-27T09:43:09Z</dcterms:modified>
</cp:coreProperties>
</file>